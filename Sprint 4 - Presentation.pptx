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  <p:sldMasterId id="214748368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Nunito"/>
      <p:regular r:id="rId18"/>
      <p:bold r:id="rId19"/>
      <p:italic r:id="rId20"/>
      <p:boldItalic r:id="rId21"/>
    </p:embeddedFont>
    <p:embeddedFont>
      <p:font typeface="Montserrat Alternates Light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Maven Pro"/>
      <p:regular r:id="rId30"/>
      <p:bold r:id="rId31"/>
    </p:embeddedFont>
    <p:embeddedFont>
      <p:font typeface="Montserrat Light"/>
      <p:regular r:id="rId32"/>
      <p:bold r:id="rId33"/>
      <p:italic r:id="rId34"/>
      <p:boldItalic r:id="rId35"/>
    </p:embeddedFont>
    <p:embeddedFont>
      <p:font typeface="Montserrat Alternates"/>
      <p:regular r:id="rId36"/>
      <p:bold r:id="rId37"/>
      <p:italic r:id="rId38"/>
      <p:boldItalic r:id="rId39"/>
    </p:embeddedFont>
    <p:embeddedFont>
      <p:font typeface="Montserrat ExtraBold"/>
      <p:bold r:id="rId40"/>
      <p:boldItalic r:id="rId41"/>
    </p:embeddedFont>
    <p:embeddedFont>
      <p:font typeface="Montserrat Alternates ExtraBold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ExtraBold-bold.fntdata"/><Relationship Id="rId20" Type="http://schemas.openxmlformats.org/officeDocument/2006/relationships/font" Target="fonts/Nunito-italic.fntdata"/><Relationship Id="rId42" Type="http://schemas.openxmlformats.org/officeDocument/2006/relationships/font" Target="fonts/MontserratAlternatesExtraBold-bold.fntdata"/><Relationship Id="rId41" Type="http://schemas.openxmlformats.org/officeDocument/2006/relationships/font" Target="fonts/MontserratExtraBold-boldItalic.fntdata"/><Relationship Id="rId22" Type="http://schemas.openxmlformats.org/officeDocument/2006/relationships/font" Target="fonts/MontserratAlternatesLight-regular.fntdata"/><Relationship Id="rId21" Type="http://schemas.openxmlformats.org/officeDocument/2006/relationships/font" Target="fonts/Nunito-boldItalic.fntdata"/><Relationship Id="rId43" Type="http://schemas.openxmlformats.org/officeDocument/2006/relationships/font" Target="fonts/MontserratAlternatesExtraBold-boldItalic.fntdata"/><Relationship Id="rId24" Type="http://schemas.openxmlformats.org/officeDocument/2006/relationships/font" Target="fonts/MontserratAlternatesLight-italic.fntdata"/><Relationship Id="rId23" Type="http://schemas.openxmlformats.org/officeDocument/2006/relationships/font" Target="fonts/MontserratAlternatesLight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AlternatesLight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venPro-bold.fntdata"/><Relationship Id="rId30" Type="http://schemas.openxmlformats.org/officeDocument/2006/relationships/font" Target="fonts/MavenPro-regular.fntdata"/><Relationship Id="rId11" Type="http://schemas.openxmlformats.org/officeDocument/2006/relationships/slide" Target="slides/slide5.xml"/><Relationship Id="rId33" Type="http://schemas.openxmlformats.org/officeDocument/2006/relationships/font" Target="fonts/MontserratLight-bold.fntdata"/><Relationship Id="rId10" Type="http://schemas.openxmlformats.org/officeDocument/2006/relationships/slide" Target="slides/slide4.xml"/><Relationship Id="rId32" Type="http://schemas.openxmlformats.org/officeDocument/2006/relationships/font" Target="fonts/MontserratLight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Light-italic.fntdata"/><Relationship Id="rId15" Type="http://schemas.openxmlformats.org/officeDocument/2006/relationships/font" Target="fonts/MontserratSemiBold-bold.fntdata"/><Relationship Id="rId37" Type="http://schemas.openxmlformats.org/officeDocument/2006/relationships/font" Target="fonts/MontserratAlternates-bold.fntdata"/><Relationship Id="rId14" Type="http://schemas.openxmlformats.org/officeDocument/2006/relationships/font" Target="fonts/MontserratSemiBold-regular.fntdata"/><Relationship Id="rId36" Type="http://schemas.openxmlformats.org/officeDocument/2006/relationships/font" Target="fonts/MontserratAlternates-regular.fntdata"/><Relationship Id="rId17" Type="http://schemas.openxmlformats.org/officeDocument/2006/relationships/font" Target="fonts/MontserratSemiBold-boldItalic.fntdata"/><Relationship Id="rId39" Type="http://schemas.openxmlformats.org/officeDocument/2006/relationships/font" Target="fonts/MontserratAlternates-boldItalic.fntdata"/><Relationship Id="rId16" Type="http://schemas.openxmlformats.org/officeDocument/2006/relationships/font" Target="fonts/MontserratSemiBold-italic.fntdata"/><Relationship Id="rId38" Type="http://schemas.openxmlformats.org/officeDocument/2006/relationships/font" Target="fonts/MontserratAlternates-italic.fntdata"/><Relationship Id="rId19" Type="http://schemas.openxmlformats.org/officeDocument/2006/relationships/font" Target="fonts/Nunito-bold.fntdata"/><Relationship Id="rId1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b03badcc23_2_1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b03badcc23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b03badcc23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b03badcc23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b03badcc23_6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b03badcc23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b03badcc23_6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b03badcc23_6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b03badcc23_6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b03badcc23_6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b03badcc23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b03badcc23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b03badcc23_6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b03badcc23_6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 rot="-5400000">
            <a:off x="625966" y="299363"/>
            <a:ext cx="999300" cy="999300"/>
          </a:xfrm>
          <a:prstGeom prst="pie">
            <a:avLst>
              <a:gd fmla="val 10792838" name="adj1"/>
              <a:gd fmla="val 16200000" name="adj2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  <a:defRPr>
                <a:solidFill>
                  <a:srgbClr val="FFFFFF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>
                <a:solidFill>
                  <a:srgbClr val="FFFFFF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>
                <a:solidFill>
                  <a:srgbClr val="FFFFFF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>
                <a:solidFill>
                  <a:srgbClr val="FFFFFF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>
                <a:solidFill>
                  <a:srgbClr val="FFFFFF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>
                <a:solidFill>
                  <a:srgbClr val="FFFFFF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>
                <a:solidFill>
                  <a:srgbClr val="FFFFFF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>
                <a:solidFill>
                  <a:srgbClr val="FFFFFF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1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8" name="Google Shape;88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4"/>
          <p:cNvSpPr/>
          <p:nvPr/>
        </p:nvSpPr>
        <p:spPr>
          <a:xfrm rot="-5400000">
            <a:off x="828601" y="501994"/>
            <a:ext cx="594055" cy="594055"/>
          </a:xfrm>
          <a:prstGeom prst="pie">
            <a:avLst>
              <a:gd fmla="val 10792838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2" name="Google Shape;92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0" name="Google Shape;100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6" name="Google Shape;106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3" name="Google Shape;113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4" name="Google Shape;114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" name="Google Shape;117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8" name="Google Shape;118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2" name="Google Shape;122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4" name="Google Shape;124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8" name="Google Shape;128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2" name="Google Shape;132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3" name="Google Shape;133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6" name="Google Shape;136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39" name="Google Shape;139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2" name="Google Shape;142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3" name="Google Shape;143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" name="Google Shape;147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8" name="Google Shape;148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4" name="Google Shape;15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" name="Google Shape;158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59" name="Google Shape;15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2" name="Google Shape;162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3" name="Google Shape;163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" name="Google Shape;168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69" name="Google Shape;169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4" name="Google Shape;174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" name="Google Shape;177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8" name="Google Shape;178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3" name="Google Shape;183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4" name="Google Shape;184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89" name="Google Shape;189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" name="Google Shape;193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4" name="Google Shape;194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8" name="Google Shape;198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" name="Google Shape;202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3" name="Google Shape;203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7" name="Google Shape;207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8" name="Google Shape;208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" name="Google Shape;213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4" name="Google Shape;214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" name="Google Shape;218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19" name="Google Shape;219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" name="Google Shape;222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3" name="Google Shape;223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7" name="Google Shape;227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8" name="Google Shape;228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" name="Google Shape;233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4" name="Google Shape;234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" name="Google Shape;238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39" name="Google Shape;239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" name="Google Shape;242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3" name="Google Shape;243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8" name="Google Shape;248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49" name="Google Shape;249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4" name="Google Shape;254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59" name="Google Shape;259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2" name="Google Shape;262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3" name="Google Shape;263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7" name="Google Shape;267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8" name="Google Shape;268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309512" y="-327229"/>
            <a:ext cx="4892424" cy="540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561088" y="-327229"/>
            <a:ext cx="4892424" cy="540620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4"/>
          <p:cNvSpPr txBox="1"/>
          <p:nvPr>
            <p:ph type="ctrTitle"/>
          </p:nvPr>
        </p:nvSpPr>
        <p:spPr>
          <a:xfrm>
            <a:off x="311700" y="1779300"/>
            <a:ext cx="8520600" cy="97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Montserrat ExtraBold"/>
              <a:buNone/>
              <a:defRPr b="0" sz="30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9" name="Google Shape;279;p14"/>
          <p:cNvSpPr txBox="1"/>
          <p:nvPr>
            <p:ph idx="1" type="subTitle"/>
          </p:nvPr>
        </p:nvSpPr>
        <p:spPr>
          <a:xfrm>
            <a:off x="2743050" y="2888250"/>
            <a:ext cx="3657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6672" y="-827887"/>
            <a:ext cx="6153101" cy="679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5"/>
          <p:cNvSpPr txBox="1"/>
          <p:nvPr>
            <p:ph type="title"/>
          </p:nvPr>
        </p:nvSpPr>
        <p:spPr>
          <a:xfrm>
            <a:off x="5188625" y="2150850"/>
            <a:ext cx="3156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3" name="Google Shape;283;p15"/>
          <p:cNvSpPr txBox="1"/>
          <p:nvPr>
            <p:ph hasCustomPrompt="1" idx="2" type="title"/>
          </p:nvPr>
        </p:nvSpPr>
        <p:spPr>
          <a:xfrm>
            <a:off x="5188625" y="919425"/>
            <a:ext cx="2445000" cy="117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15"/>
          <p:cNvSpPr txBox="1"/>
          <p:nvPr>
            <p:ph idx="1" type="subTitle"/>
          </p:nvPr>
        </p:nvSpPr>
        <p:spPr>
          <a:xfrm>
            <a:off x="5188625" y="3194925"/>
            <a:ext cx="3156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6"/>
          <p:cNvPicPr preferRelativeResize="0"/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 rot="-7199997">
            <a:off x="4531704" y="539794"/>
            <a:ext cx="5918750" cy="654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6"/>
          <p:cNvSpPr txBox="1"/>
          <p:nvPr>
            <p:ph idx="1" type="body"/>
          </p:nvPr>
        </p:nvSpPr>
        <p:spPr>
          <a:xfrm>
            <a:off x="686700" y="1000075"/>
            <a:ext cx="7392900" cy="32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7975" lvl="0" marL="457200">
              <a:spcBef>
                <a:spcPts val="0"/>
              </a:spcBef>
              <a:spcAft>
                <a:spcPts val="0"/>
              </a:spcAft>
              <a:buSzPts val="1250"/>
              <a:buChar char="●"/>
              <a:defRPr sz="1250"/>
            </a:lvl1pPr>
            <a:lvl2pPr indent="-307975" lvl="1" marL="914400">
              <a:spcBef>
                <a:spcPts val="1600"/>
              </a:spcBef>
              <a:spcAft>
                <a:spcPts val="0"/>
              </a:spcAft>
              <a:buSzPts val="1250"/>
              <a:buChar char="○"/>
              <a:defRPr sz="1250"/>
            </a:lvl2pPr>
            <a:lvl3pPr indent="-307975" lvl="2" marL="1371600">
              <a:spcBef>
                <a:spcPts val="1600"/>
              </a:spcBef>
              <a:spcAft>
                <a:spcPts val="0"/>
              </a:spcAft>
              <a:buSzPts val="1250"/>
              <a:buChar char="■"/>
              <a:defRPr sz="1250"/>
            </a:lvl3pPr>
            <a:lvl4pPr indent="-307975" lvl="3" marL="1828800">
              <a:spcBef>
                <a:spcPts val="1600"/>
              </a:spcBef>
              <a:spcAft>
                <a:spcPts val="0"/>
              </a:spcAft>
              <a:buSzPts val="1250"/>
              <a:buChar char="●"/>
              <a:defRPr sz="1250"/>
            </a:lvl4pPr>
            <a:lvl5pPr indent="-307975" lvl="4" marL="2286000">
              <a:spcBef>
                <a:spcPts val="1600"/>
              </a:spcBef>
              <a:spcAft>
                <a:spcPts val="0"/>
              </a:spcAft>
              <a:buSzPts val="1250"/>
              <a:buChar char="○"/>
              <a:defRPr sz="1250"/>
            </a:lvl5pPr>
            <a:lvl6pPr indent="-307975" lvl="5" marL="2743200">
              <a:spcBef>
                <a:spcPts val="1600"/>
              </a:spcBef>
              <a:spcAft>
                <a:spcPts val="0"/>
              </a:spcAft>
              <a:buSzPts val="1250"/>
              <a:buChar char="■"/>
              <a:defRPr sz="1250"/>
            </a:lvl6pPr>
            <a:lvl7pPr indent="-307975" lvl="6" marL="3200400">
              <a:spcBef>
                <a:spcPts val="1600"/>
              </a:spcBef>
              <a:spcAft>
                <a:spcPts val="0"/>
              </a:spcAft>
              <a:buSzPts val="1250"/>
              <a:buChar char="●"/>
              <a:defRPr sz="1250"/>
            </a:lvl7pPr>
            <a:lvl8pPr indent="-307975" lvl="7" marL="3657600">
              <a:spcBef>
                <a:spcPts val="1600"/>
              </a:spcBef>
              <a:spcAft>
                <a:spcPts val="0"/>
              </a:spcAft>
              <a:buSzPts val="1250"/>
              <a:buChar char="○"/>
              <a:defRPr sz="1250"/>
            </a:lvl8pPr>
            <a:lvl9pPr indent="-307975" lvl="8" marL="4114800">
              <a:spcBef>
                <a:spcPts val="1600"/>
              </a:spcBef>
              <a:spcAft>
                <a:spcPts val="1600"/>
              </a:spcAft>
              <a:buSzPts val="1250"/>
              <a:buChar char="■"/>
              <a:defRPr sz="1250"/>
            </a:lvl9pPr>
          </a:lstStyle>
          <a:p/>
        </p:txBody>
      </p:sp>
      <p:sp>
        <p:nvSpPr>
          <p:cNvPr id="288" name="Google Shape;288;p16"/>
          <p:cNvSpPr txBox="1"/>
          <p:nvPr>
            <p:ph type="title"/>
          </p:nvPr>
        </p:nvSpPr>
        <p:spPr>
          <a:xfrm>
            <a:off x="686700" y="378225"/>
            <a:ext cx="79131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7"/>
          <p:cNvPicPr preferRelativeResize="0"/>
          <p:nvPr/>
        </p:nvPicPr>
        <p:blipFill rotWithShape="1">
          <a:blip r:embed="rId2">
            <a:alphaModFix/>
          </a:blip>
          <a:srcRect b="0" l="0" r="8214" t="0"/>
          <a:stretch/>
        </p:blipFill>
        <p:spPr>
          <a:xfrm>
            <a:off x="658750" y="-1397100"/>
            <a:ext cx="7826501" cy="743729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7"/>
          <p:cNvSpPr txBox="1"/>
          <p:nvPr>
            <p:ph idx="1" type="body"/>
          </p:nvPr>
        </p:nvSpPr>
        <p:spPr>
          <a:xfrm>
            <a:off x="775144" y="1313000"/>
            <a:ext cx="3564900" cy="32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2" name="Google Shape;292;p17"/>
          <p:cNvSpPr txBox="1"/>
          <p:nvPr>
            <p:ph idx="2" type="body"/>
          </p:nvPr>
        </p:nvSpPr>
        <p:spPr>
          <a:xfrm>
            <a:off x="4803956" y="1313000"/>
            <a:ext cx="3564900" cy="32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3" name="Google Shape;293;p17"/>
          <p:cNvSpPr txBox="1"/>
          <p:nvPr>
            <p:ph type="title"/>
          </p:nvPr>
        </p:nvSpPr>
        <p:spPr>
          <a:xfrm>
            <a:off x="4201075" y="378225"/>
            <a:ext cx="43986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8"/>
          <p:cNvPicPr preferRelativeResize="0"/>
          <p:nvPr/>
        </p:nvPicPr>
        <p:blipFill rotWithShape="1">
          <a:blip r:embed="rId2">
            <a:alphaModFix/>
          </a:blip>
          <a:srcRect b="0" l="0" r="8214" t="0"/>
          <a:stretch/>
        </p:blipFill>
        <p:spPr>
          <a:xfrm>
            <a:off x="658750" y="-1397100"/>
            <a:ext cx="7826501" cy="743729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8"/>
          <p:cNvSpPr txBox="1"/>
          <p:nvPr>
            <p:ph type="title"/>
          </p:nvPr>
        </p:nvSpPr>
        <p:spPr>
          <a:xfrm>
            <a:off x="2629450" y="378225"/>
            <a:ext cx="59703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3192424" y="1047350"/>
            <a:ext cx="12336426" cy="409614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9"/>
          <p:cNvSpPr txBox="1"/>
          <p:nvPr>
            <p:ph type="title"/>
          </p:nvPr>
        </p:nvSpPr>
        <p:spPr>
          <a:xfrm>
            <a:off x="5223175" y="12765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0" name="Google Shape;300;p19"/>
          <p:cNvSpPr txBox="1"/>
          <p:nvPr>
            <p:ph idx="1" type="body"/>
          </p:nvPr>
        </p:nvSpPr>
        <p:spPr>
          <a:xfrm>
            <a:off x="5223175" y="2110500"/>
            <a:ext cx="2808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"/>
          <p:cNvSpPr txBox="1"/>
          <p:nvPr>
            <p:ph type="title"/>
          </p:nvPr>
        </p:nvSpPr>
        <p:spPr>
          <a:xfrm>
            <a:off x="690450" y="450150"/>
            <a:ext cx="42042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03" name="Google Shape;303;p20"/>
          <p:cNvPicPr preferRelativeResize="0"/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 rot="-3651880">
            <a:off x="-1772274" y="-44184"/>
            <a:ext cx="5918752" cy="6540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"/>
          <p:cNvSpPr txBox="1"/>
          <p:nvPr>
            <p:ph idx="1" type="subTitle"/>
          </p:nvPr>
        </p:nvSpPr>
        <p:spPr>
          <a:xfrm>
            <a:off x="1098925" y="531350"/>
            <a:ext cx="3273600" cy="123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06" name="Google Shape;306;p21"/>
          <p:cNvSpPr txBox="1"/>
          <p:nvPr>
            <p:ph idx="2" type="body"/>
          </p:nvPr>
        </p:nvSpPr>
        <p:spPr>
          <a:xfrm>
            <a:off x="1098925" y="1895625"/>
            <a:ext cx="3273600" cy="25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7" name="Google Shape;307;p21"/>
          <p:cNvSpPr txBox="1"/>
          <p:nvPr>
            <p:ph type="title"/>
          </p:nvPr>
        </p:nvSpPr>
        <p:spPr>
          <a:xfrm>
            <a:off x="3457775" y="378225"/>
            <a:ext cx="51420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>
            <p:ph type="title"/>
          </p:nvPr>
        </p:nvSpPr>
        <p:spPr>
          <a:xfrm>
            <a:off x="3457775" y="378225"/>
            <a:ext cx="51420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310" name="Google Shape;310;p2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" y="2801493"/>
            <a:ext cx="9144003" cy="3036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3"/>
          <p:cNvPicPr preferRelativeResize="0"/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 rot="-1365984">
            <a:off x="-1959971" y="118698"/>
            <a:ext cx="5918748" cy="65402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3"/>
          <p:cNvSpPr txBox="1"/>
          <p:nvPr>
            <p:ph hasCustomPrompt="1" type="title"/>
          </p:nvPr>
        </p:nvSpPr>
        <p:spPr>
          <a:xfrm>
            <a:off x="2028150" y="1598125"/>
            <a:ext cx="5087700" cy="117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4" name="Google Shape;314;p23"/>
          <p:cNvSpPr txBox="1"/>
          <p:nvPr>
            <p:ph idx="1" type="body"/>
          </p:nvPr>
        </p:nvSpPr>
        <p:spPr>
          <a:xfrm>
            <a:off x="2443500" y="2840075"/>
            <a:ext cx="4257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315" name="Google Shape;315;p23"/>
          <p:cNvPicPr preferRelativeResize="0"/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 rot="-7199997">
            <a:off x="4531704" y="539794"/>
            <a:ext cx="5918750" cy="654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5"/>
          <p:cNvPicPr preferRelativeResize="0"/>
          <p:nvPr/>
        </p:nvPicPr>
        <p:blipFill rotWithShape="1">
          <a:blip r:embed="rId2">
            <a:alphaModFix/>
          </a:blip>
          <a:srcRect b="0" l="0" r="8214" t="0"/>
          <a:stretch/>
        </p:blipFill>
        <p:spPr>
          <a:xfrm>
            <a:off x="658750" y="-1397100"/>
            <a:ext cx="7826501" cy="743729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>
            <p:ph type="title"/>
          </p:nvPr>
        </p:nvSpPr>
        <p:spPr>
          <a:xfrm>
            <a:off x="702450" y="1773225"/>
            <a:ext cx="19467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0" name="Google Shape;320;p25"/>
          <p:cNvSpPr txBox="1"/>
          <p:nvPr>
            <p:ph idx="1" type="subTitle"/>
          </p:nvPr>
        </p:nvSpPr>
        <p:spPr>
          <a:xfrm>
            <a:off x="702450" y="2070300"/>
            <a:ext cx="19467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1" name="Google Shape;321;p25"/>
          <p:cNvSpPr txBox="1"/>
          <p:nvPr>
            <p:ph idx="2" type="title"/>
          </p:nvPr>
        </p:nvSpPr>
        <p:spPr>
          <a:xfrm>
            <a:off x="3598650" y="1773225"/>
            <a:ext cx="19467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2" name="Google Shape;322;p25"/>
          <p:cNvSpPr txBox="1"/>
          <p:nvPr>
            <p:ph idx="3" type="subTitle"/>
          </p:nvPr>
        </p:nvSpPr>
        <p:spPr>
          <a:xfrm>
            <a:off x="3598650" y="2070300"/>
            <a:ext cx="19467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3" name="Google Shape;323;p25"/>
          <p:cNvSpPr txBox="1"/>
          <p:nvPr>
            <p:ph idx="4" type="title"/>
          </p:nvPr>
        </p:nvSpPr>
        <p:spPr>
          <a:xfrm>
            <a:off x="6494850" y="1773225"/>
            <a:ext cx="19467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4" name="Google Shape;324;p25"/>
          <p:cNvSpPr txBox="1"/>
          <p:nvPr>
            <p:ph idx="5" type="subTitle"/>
          </p:nvPr>
        </p:nvSpPr>
        <p:spPr>
          <a:xfrm>
            <a:off x="6494850" y="2070300"/>
            <a:ext cx="19467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5" name="Google Shape;325;p25"/>
          <p:cNvSpPr txBox="1"/>
          <p:nvPr>
            <p:ph idx="6" type="title"/>
          </p:nvPr>
        </p:nvSpPr>
        <p:spPr>
          <a:xfrm>
            <a:off x="5039900" y="3501280"/>
            <a:ext cx="19467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6" name="Google Shape;326;p25"/>
          <p:cNvSpPr txBox="1"/>
          <p:nvPr>
            <p:ph idx="7" type="subTitle"/>
          </p:nvPr>
        </p:nvSpPr>
        <p:spPr>
          <a:xfrm>
            <a:off x="5039888" y="3798230"/>
            <a:ext cx="19467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7" name="Google Shape;327;p25"/>
          <p:cNvSpPr txBox="1"/>
          <p:nvPr>
            <p:ph idx="8" type="title"/>
          </p:nvPr>
        </p:nvSpPr>
        <p:spPr>
          <a:xfrm>
            <a:off x="2157425" y="3501280"/>
            <a:ext cx="19467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8" name="Google Shape;328;p25"/>
          <p:cNvSpPr txBox="1"/>
          <p:nvPr>
            <p:ph idx="9" type="subTitle"/>
          </p:nvPr>
        </p:nvSpPr>
        <p:spPr>
          <a:xfrm>
            <a:off x="2157413" y="3798230"/>
            <a:ext cx="19467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9" name="Google Shape;329;p25"/>
          <p:cNvSpPr txBox="1"/>
          <p:nvPr>
            <p:ph hasCustomPrompt="1" idx="13" type="title"/>
          </p:nvPr>
        </p:nvSpPr>
        <p:spPr>
          <a:xfrm>
            <a:off x="1139400" y="1283325"/>
            <a:ext cx="1072800" cy="48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0" name="Google Shape;330;p25"/>
          <p:cNvSpPr txBox="1"/>
          <p:nvPr>
            <p:ph hasCustomPrompt="1" idx="14" type="title"/>
          </p:nvPr>
        </p:nvSpPr>
        <p:spPr>
          <a:xfrm>
            <a:off x="4035600" y="1283325"/>
            <a:ext cx="1072800" cy="48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1" name="Google Shape;331;p25"/>
          <p:cNvSpPr txBox="1"/>
          <p:nvPr>
            <p:ph hasCustomPrompt="1" idx="15" type="title"/>
          </p:nvPr>
        </p:nvSpPr>
        <p:spPr>
          <a:xfrm>
            <a:off x="6931800" y="1283325"/>
            <a:ext cx="1072800" cy="48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25"/>
          <p:cNvSpPr txBox="1"/>
          <p:nvPr>
            <p:ph hasCustomPrompt="1" idx="16" type="title"/>
          </p:nvPr>
        </p:nvSpPr>
        <p:spPr>
          <a:xfrm>
            <a:off x="5476850" y="3007778"/>
            <a:ext cx="1072800" cy="48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3" name="Google Shape;333;p25"/>
          <p:cNvSpPr txBox="1"/>
          <p:nvPr>
            <p:ph hasCustomPrompt="1" idx="17" type="title"/>
          </p:nvPr>
        </p:nvSpPr>
        <p:spPr>
          <a:xfrm>
            <a:off x="2594375" y="3015515"/>
            <a:ext cx="1072800" cy="48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TITLE_AND_BODY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-392975"/>
            <a:ext cx="9397469" cy="326912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 txBox="1"/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7" name="Google Shape;337;p26"/>
          <p:cNvSpPr txBox="1"/>
          <p:nvPr>
            <p:ph idx="2" type="title"/>
          </p:nvPr>
        </p:nvSpPr>
        <p:spPr>
          <a:xfrm>
            <a:off x="809939" y="3104050"/>
            <a:ext cx="22170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38" name="Google Shape;338;p26"/>
          <p:cNvSpPr txBox="1"/>
          <p:nvPr>
            <p:ph idx="1" type="subTitle"/>
          </p:nvPr>
        </p:nvSpPr>
        <p:spPr>
          <a:xfrm>
            <a:off x="809925" y="3477200"/>
            <a:ext cx="22170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9" name="Google Shape;339;p26"/>
          <p:cNvSpPr txBox="1"/>
          <p:nvPr>
            <p:ph idx="3" type="title"/>
          </p:nvPr>
        </p:nvSpPr>
        <p:spPr>
          <a:xfrm>
            <a:off x="3463502" y="3104050"/>
            <a:ext cx="22170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4" type="subTitle"/>
          </p:nvPr>
        </p:nvSpPr>
        <p:spPr>
          <a:xfrm>
            <a:off x="3463488" y="3477200"/>
            <a:ext cx="22170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1" name="Google Shape;341;p26"/>
          <p:cNvSpPr txBox="1"/>
          <p:nvPr>
            <p:ph idx="5" type="title"/>
          </p:nvPr>
        </p:nvSpPr>
        <p:spPr>
          <a:xfrm>
            <a:off x="6117052" y="3104050"/>
            <a:ext cx="22170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42" name="Google Shape;342;p26"/>
          <p:cNvSpPr txBox="1"/>
          <p:nvPr>
            <p:ph idx="6" type="subTitle"/>
          </p:nvPr>
        </p:nvSpPr>
        <p:spPr>
          <a:xfrm>
            <a:off x="6117038" y="3477200"/>
            <a:ext cx="22170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ONE_COLUMN_TEXT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7"/>
          <p:cNvSpPr txBox="1"/>
          <p:nvPr>
            <p:ph type="title"/>
          </p:nvPr>
        </p:nvSpPr>
        <p:spPr>
          <a:xfrm>
            <a:off x="1008350" y="12765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5" name="Google Shape;345;p27"/>
          <p:cNvSpPr txBox="1"/>
          <p:nvPr>
            <p:ph idx="1" type="body"/>
          </p:nvPr>
        </p:nvSpPr>
        <p:spPr>
          <a:xfrm>
            <a:off x="1008350" y="2110500"/>
            <a:ext cx="2808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346" name="Google Shape;34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647114" y="1532427"/>
            <a:ext cx="6751897" cy="224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TITLE_ONLY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"/>
          <p:cNvSpPr txBox="1"/>
          <p:nvPr>
            <p:ph type="title"/>
          </p:nvPr>
        </p:nvSpPr>
        <p:spPr>
          <a:xfrm>
            <a:off x="4201075" y="378225"/>
            <a:ext cx="43986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349" name="Google Shape;349;p28"/>
          <p:cNvPicPr preferRelativeResize="0"/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 rot="-1365984">
            <a:off x="-1511771" y="-174252"/>
            <a:ext cx="5918748" cy="6540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SECTION_TITLE_AND_DESCRIPTION_2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"/>
          <p:cNvSpPr txBox="1"/>
          <p:nvPr>
            <p:ph idx="1" type="body"/>
          </p:nvPr>
        </p:nvSpPr>
        <p:spPr>
          <a:xfrm>
            <a:off x="5099425" y="1767050"/>
            <a:ext cx="3273600" cy="25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2" name="Google Shape;352;p29"/>
          <p:cNvSpPr txBox="1"/>
          <p:nvPr>
            <p:ph type="title"/>
          </p:nvPr>
        </p:nvSpPr>
        <p:spPr>
          <a:xfrm>
            <a:off x="3457775" y="378225"/>
            <a:ext cx="51420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AND_BODY_1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-392975"/>
            <a:ext cx="9397469" cy="3269127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 txBox="1"/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0"/>
          <p:cNvSpPr txBox="1"/>
          <p:nvPr>
            <p:ph idx="2" type="title"/>
          </p:nvPr>
        </p:nvSpPr>
        <p:spPr>
          <a:xfrm>
            <a:off x="905723" y="3146925"/>
            <a:ext cx="15972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1" type="subTitle"/>
          </p:nvPr>
        </p:nvSpPr>
        <p:spPr>
          <a:xfrm>
            <a:off x="905713" y="3520075"/>
            <a:ext cx="15972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30"/>
          <p:cNvSpPr txBox="1"/>
          <p:nvPr>
            <p:ph idx="3" type="title"/>
          </p:nvPr>
        </p:nvSpPr>
        <p:spPr>
          <a:xfrm>
            <a:off x="2817510" y="3146925"/>
            <a:ext cx="15972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59" name="Google Shape;359;p30"/>
          <p:cNvSpPr txBox="1"/>
          <p:nvPr>
            <p:ph idx="4" type="subTitle"/>
          </p:nvPr>
        </p:nvSpPr>
        <p:spPr>
          <a:xfrm>
            <a:off x="2817500" y="3520075"/>
            <a:ext cx="15972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30"/>
          <p:cNvSpPr txBox="1"/>
          <p:nvPr>
            <p:ph idx="5" type="title"/>
          </p:nvPr>
        </p:nvSpPr>
        <p:spPr>
          <a:xfrm>
            <a:off x="4729288" y="3146925"/>
            <a:ext cx="15972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61" name="Google Shape;361;p30"/>
          <p:cNvSpPr txBox="1"/>
          <p:nvPr>
            <p:ph idx="6" type="subTitle"/>
          </p:nvPr>
        </p:nvSpPr>
        <p:spPr>
          <a:xfrm>
            <a:off x="4729278" y="3520075"/>
            <a:ext cx="15972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30"/>
          <p:cNvSpPr txBox="1"/>
          <p:nvPr>
            <p:ph idx="7" type="title"/>
          </p:nvPr>
        </p:nvSpPr>
        <p:spPr>
          <a:xfrm>
            <a:off x="6641075" y="3146925"/>
            <a:ext cx="15972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63" name="Google Shape;363;p30"/>
          <p:cNvSpPr txBox="1"/>
          <p:nvPr>
            <p:ph idx="8" type="subTitle"/>
          </p:nvPr>
        </p:nvSpPr>
        <p:spPr>
          <a:xfrm>
            <a:off x="6641065" y="3520075"/>
            <a:ext cx="15972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TITLE_AND_BODY_1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-392975"/>
            <a:ext cx="9397469" cy="326912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1"/>
          <p:cNvSpPr txBox="1"/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7" name="Google Shape;367;p31"/>
          <p:cNvSpPr txBox="1"/>
          <p:nvPr>
            <p:ph idx="2" type="title"/>
          </p:nvPr>
        </p:nvSpPr>
        <p:spPr>
          <a:xfrm>
            <a:off x="1426194" y="2418250"/>
            <a:ext cx="24282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68" name="Google Shape;368;p31"/>
          <p:cNvSpPr txBox="1"/>
          <p:nvPr>
            <p:ph idx="1" type="subTitle"/>
          </p:nvPr>
        </p:nvSpPr>
        <p:spPr>
          <a:xfrm>
            <a:off x="1426175" y="2791400"/>
            <a:ext cx="2428200" cy="14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9" name="Google Shape;369;p31"/>
          <p:cNvSpPr txBox="1"/>
          <p:nvPr>
            <p:ph idx="3" type="title"/>
          </p:nvPr>
        </p:nvSpPr>
        <p:spPr>
          <a:xfrm>
            <a:off x="5289622" y="2418250"/>
            <a:ext cx="24282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Font typeface="Montserrat Alternates ExtraBold"/>
              <a:buNone/>
              <a:defRPr sz="1600">
                <a:solidFill>
                  <a:srgbClr val="06BAD6"/>
                </a:solidFill>
                <a:latin typeface="Montserrat Alternates ExtraBold"/>
                <a:ea typeface="Montserrat Alternates ExtraBold"/>
                <a:cs typeface="Montserrat Alternates ExtraBold"/>
                <a:sym typeface="Montserrat Alternate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70" name="Google Shape;370;p31"/>
          <p:cNvSpPr txBox="1"/>
          <p:nvPr>
            <p:ph idx="4" type="subTitle"/>
          </p:nvPr>
        </p:nvSpPr>
        <p:spPr>
          <a:xfrm>
            <a:off x="5289601" y="2791400"/>
            <a:ext cx="2428200" cy="14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Alternates Light"/>
              <a:buNone/>
              <a:defRPr sz="14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sign">
  <p:cSld name="TITLE_AND_BODY_1_2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ONE_COLUMN_TEXT_1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"/>
          <p:cNvSpPr txBox="1"/>
          <p:nvPr>
            <p:ph idx="1" type="body"/>
          </p:nvPr>
        </p:nvSpPr>
        <p:spPr>
          <a:xfrm>
            <a:off x="2128400" y="3131396"/>
            <a:ext cx="22419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r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r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r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r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r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r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r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r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374" name="Google Shape;374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399995">
            <a:off x="-2368482" y="1910826"/>
            <a:ext cx="6751897" cy="224187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3"/>
          <p:cNvSpPr txBox="1"/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">
  <p:cSld name="TITLE_AND_BODY_1_3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-392975"/>
            <a:ext cx="9397469" cy="3269127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4"/>
          <p:cNvSpPr txBox="1"/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9" name="Google Shape;379;p34"/>
          <p:cNvSpPr txBox="1"/>
          <p:nvPr>
            <p:ph idx="2" type="title"/>
          </p:nvPr>
        </p:nvSpPr>
        <p:spPr>
          <a:xfrm>
            <a:off x="809952" y="1559225"/>
            <a:ext cx="22170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80" name="Google Shape;380;p34"/>
          <p:cNvSpPr txBox="1"/>
          <p:nvPr>
            <p:ph idx="1" type="subTitle"/>
          </p:nvPr>
        </p:nvSpPr>
        <p:spPr>
          <a:xfrm>
            <a:off x="809938" y="1932375"/>
            <a:ext cx="22170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1" name="Google Shape;381;p34"/>
          <p:cNvSpPr txBox="1"/>
          <p:nvPr>
            <p:ph idx="3" type="title"/>
          </p:nvPr>
        </p:nvSpPr>
        <p:spPr>
          <a:xfrm>
            <a:off x="3463514" y="1559225"/>
            <a:ext cx="22170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82" name="Google Shape;382;p34"/>
          <p:cNvSpPr txBox="1"/>
          <p:nvPr>
            <p:ph idx="4" type="subTitle"/>
          </p:nvPr>
        </p:nvSpPr>
        <p:spPr>
          <a:xfrm>
            <a:off x="3463500" y="1932375"/>
            <a:ext cx="22170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3" name="Google Shape;383;p34"/>
          <p:cNvSpPr txBox="1"/>
          <p:nvPr>
            <p:ph idx="5" type="title"/>
          </p:nvPr>
        </p:nvSpPr>
        <p:spPr>
          <a:xfrm>
            <a:off x="6117064" y="1559225"/>
            <a:ext cx="22170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84" name="Google Shape;384;p34"/>
          <p:cNvSpPr txBox="1"/>
          <p:nvPr>
            <p:ph idx="6" type="subTitle"/>
          </p:nvPr>
        </p:nvSpPr>
        <p:spPr>
          <a:xfrm>
            <a:off x="6117050" y="1932375"/>
            <a:ext cx="22170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5" name="Google Shape;385;p34"/>
          <p:cNvSpPr txBox="1"/>
          <p:nvPr>
            <p:ph idx="7" type="title"/>
          </p:nvPr>
        </p:nvSpPr>
        <p:spPr>
          <a:xfrm>
            <a:off x="809939" y="3207225"/>
            <a:ext cx="22170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86" name="Google Shape;386;p34"/>
          <p:cNvSpPr txBox="1"/>
          <p:nvPr>
            <p:ph idx="8" type="subTitle"/>
          </p:nvPr>
        </p:nvSpPr>
        <p:spPr>
          <a:xfrm>
            <a:off x="809925" y="3580375"/>
            <a:ext cx="22170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7" name="Google Shape;387;p34"/>
          <p:cNvSpPr txBox="1"/>
          <p:nvPr>
            <p:ph idx="9" type="title"/>
          </p:nvPr>
        </p:nvSpPr>
        <p:spPr>
          <a:xfrm>
            <a:off x="3463502" y="3207225"/>
            <a:ext cx="22170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88" name="Google Shape;388;p34"/>
          <p:cNvSpPr txBox="1"/>
          <p:nvPr>
            <p:ph idx="13" type="subTitle"/>
          </p:nvPr>
        </p:nvSpPr>
        <p:spPr>
          <a:xfrm>
            <a:off x="3463488" y="3580375"/>
            <a:ext cx="22170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9" name="Google Shape;389;p34"/>
          <p:cNvSpPr txBox="1"/>
          <p:nvPr>
            <p:ph idx="14" type="title"/>
          </p:nvPr>
        </p:nvSpPr>
        <p:spPr>
          <a:xfrm>
            <a:off x="6117052" y="3207225"/>
            <a:ext cx="22170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90" name="Google Shape;390;p34"/>
          <p:cNvSpPr txBox="1"/>
          <p:nvPr>
            <p:ph idx="15" type="subTitle"/>
          </p:nvPr>
        </p:nvSpPr>
        <p:spPr>
          <a:xfrm>
            <a:off x="6117038" y="3580375"/>
            <a:ext cx="22170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1">
  <p:cSld name="TITLE_AND_BODY_1_2_2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4">
            <a:off x="3" y="3019082"/>
            <a:ext cx="9533454" cy="316545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5"/>
          <p:cNvSpPr txBox="1"/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4" name="Google Shape;394;p35"/>
          <p:cNvSpPr txBox="1"/>
          <p:nvPr>
            <p:ph idx="2" type="title"/>
          </p:nvPr>
        </p:nvSpPr>
        <p:spPr>
          <a:xfrm>
            <a:off x="1671086" y="1231700"/>
            <a:ext cx="28059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95" name="Google Shape;395;p35"/>
          <p:cNvSpPr txBox="1"/>
          <p:nvPr>
            <p:ph idx="1" type="subTitle"/>
          </p:nvPr>
        </p:nvSpPr>
        <p:spPr>
          <a:xfrm>
            <a:off x="1671064" y="1604850"/>
            <a:ext cx="2805900" cy="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6" name="Google Shape;396;p35"/>
          <p:cNvSpPr txBox="1"/>
          <p:nvPr>
            <p:ph idx="3" type="title"/>
          </p:nvPr>
        </p:nvSpPr>
        <p:spPr>
          <a:xfrm>
            <a:off x="4667036" y="2547925"/>
            <a:ext cx="28059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06BAD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/>
        </p:txBody>
      </p:sp>
      <p:sp>
        <p:nvSpPr>
          <p:cNvPr id="397" name="Google Shape;397;p35"/>
          <p:cNvSpPr txBox="1"/>
          <p:nvPr>
            <p:ph idx="4" type="subTitle"/>
          </p:nvPr>
        </p:nvSpPr>
        <p:spPr>
          <a:xfrm>
            <a:off x="4667014" y="2921075"/>
            <a:ext cx="2805900" cy="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6672" y="-827887"/>
            <a:ext cx="6153101" cy="679927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6"/>
          <p:cNvSpPr txBox="1"/>
          <p:nvPr>
            <p:ph type="title"/>
          </p:nvPr>
        </p:nvSpPr>
        <p:spPr>
          <a:xfrm>
            <a:off x="5150300" y="694050"/>
            <a:ext cx="3156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1" name="Google Shape;401;p36"/>
          <p:cNvSpPr txBox="1"/>
          <p:nvPr>
            <p:ph idx="1" type="subTitle"/>
          </p:nvPr>
        </p:nvSpPr>
        <p:spPr>
          <a:xfrm>
            <a:off x="5150300" y="1535850"/>
            <a:ext cx="3156600" cy="11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36"/>
          <p:cNvSpPr txBox="1"/>
          <p:nvPr/>
        </p:nvSpPr>
        <p:spPr>
          <a:xfrm>
            <a:off x="5150300" y="3218125"/>
            <a:ext cx="31926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Slidesgo, including icons by Flaticon, and infographics &amp; images by Freepik. 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TITLE_ONLY_1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7"/>
          <p:cNvSpPr txBox="1"/>
          <p:nvPr>
            <p:ph type="title"/>
          </p:nvPr>
        </p:nvSpPr>
        <p:spPr>
          <a:xfrm>
            <a:off x="4201075" y="378225"/>
            <a:ext cx="43986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rgbClr val="0B539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00237D"/>
            </a:gs>
            <a:gs pos="100000">
              <a:srgbClr val="0114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ExtraBold"/>
              <a:buNone/>
              <a:defRPr sz="28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b="1" sz="2800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b="1" sz="2800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b="1" sz="2800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b="1" sz="2800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b="1" sz="2800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b="1" sz="2800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b="1" sz="2800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b="1" sz="2800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/>
        </p:txBody>
      </p:sp>
      <p:sp>
        <p:nvSpPr>
          <p:cNvPr id="274" name="Google Shape;27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Char char="●"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github.com/joefurmanowski/Presentation/blob/main/Agility.mov" TargetMode="External"/><Relationship Id="rId5" Type="http://schemas.openxmlformats.org/officeDocument/2006/relationships/hyperlink" Target="http://www.youtube.com/watch?v=s9ik73-QRwc" TargetMode="External"/><Relationship Id="rId6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37D"/>
            </a:gs>
            <a:gs pos="100000">
              <a:srgbClr val="0114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9"/>
          <p:cNvSpPr txBox="1"/>
          <p:nvPr>
            <p:ph type="ctrTitle"/>
          </p:nvPr>
        </p:nvSpPr>
        <p:spPr>
          <a:xfrm>
            <a:off x="311700" y="1779300"/>
            <a:ext cx="8520600" cy="97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Sprint 4</a:t>
            </a:r>
            <a:endParaRPr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ontserrat Light"/>
                <a:ea typeface="Montserrat Light"/>
                <a:cs typeface="Montserrat Light"/>
                <a:sym typeface="Montserrat Light"/>
              </a:rPr>
              <a:t>Triathlon Performance</a:t>
            </a:r>
            <a:endParaRPr sz="28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11" name="Google Shape;411;p39"/>
          <p:cNvSpPr txBox="1"/>
          <p:nvPr>
            <p:ph idx="1" type="subTitle"/>
          </p:nvPr>
        </p:nvSpPr>
        <p:spPr>
          <a:xfrm>
            <a:off x="2743050" y="2665800"/>
            <a:ext cx="3657900" cy="9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Joseph Furmanowski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Justyce Graham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CS-104-01, Monmouth University</a:t>
            </a:r>
            <a:endParaRPr b="1" sz="1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412" name="Google Shape;4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9150" y="1051275"/>
            <a:ext cx="2624850" cy="2624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13" name="Google Shape;41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9763" y="3676113"/>
            <a:ext cx="830275" cy="830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14" name="Google Shape;414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5650" y="3564900"/>
            <a:ext cx="1052700" cy="105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15" name="Google Shape;415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2050" y="3465025"/>
            <a:ext cx="879525" cy="118587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16" name="Google Shape;416;p39"/>
          <p:cNvSpPr txBox="1"/>
          <p:nvPr/>
        </p:nvSpPr>
        <p:spPr>
          <a:xfrm>
            <a:off x="2849850" y="4654050"/>
            <a:ext cx="830100" cy="232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  Endurance</a:t>
            </a:r>
            <a:endParaRPr b="1"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7" name="Google Shape;417;p39"/>
          <p:cNvSpPr txBox="1"/>
          <p:nvPr/>
        </p:nvSpPr>
        <p:spPr>
          <a:xfrm>
            <a:off x="4160938" y="4654050"/>
            <a:ext cx="830100" cy="232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  Accuracy</a:t>
            </a:r>
            <a:endParaRPr b="1"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8" name="Google Shape;418;p39"/>
          <p:cNvSpPr txBox="1"/>
          <p:nvPr/>
        </p:nvSpPr>
        <p:spPr>
          <a:xfrm>
            <a:off x="5521475" y="4654050"/>
            <a:ext cx="830100" cy="232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  Agility</a:t>
            </a:r>
            <a:endParaRPr b="1"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 txBox="1"/>
          <p:nvPr>
            <p:ph idx="1" type="body"/>
          </p:nvPr>
        </p:nvSpPr>
        <p:spPr>
          <a:xfrm>
            <a:off x="686700" y="1000075"/>
            <a:ext cx="5934300" cy="3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Developing</a:t>
            </a:r>
            <a:r>
              <a:rPr lang="en" sz="13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and testing our software off-campus</a:t>
            </a:r>
            <a:endParaRPr sz="13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Our team decided that it would be best to stay safe and work off-campus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Access to the Monmouth University campus is limited due to COVID-19 safety restrictions 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We had to recreate the on-campus course layouts in our limited space at home by proportionately decreasing all the course dimensions. We took great care in ensuring that our software still performs per the requirements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Working with each other’s schedules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○"/>
            </a:pPr>
            <a:r>
              <a:rPr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As first-year college students, we are trying to balance our work and student lives, especially in the midst of the pandemic, our transition to college, and online learning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It was sometimes hard for us to find a mutually agreed upon time to plan for and work on each sprint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Technical difficulties</a:t>
            </a:r>
            <a:endParaRPr sz="13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We had some issues connecting to the robot with Bluetooth that required restarts of both devices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Editing the code on our PCs and trying to sync it to the mobile app sometimes would not work and thus gave us difficulties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4" name="Google Shape;424;p40"/>
          <p:cNvSpPr txBox="1"/>
          <p:nvPr>
            <p:ph type="title"/>
          </p:nvPr>
        </p:nvSpPr>
        <p:spPr>
          <a:xfrm>
            <a:off x="686700" y="378225"/>
            <a:ext cx="79131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We Faced</a:t>
            </a:r>
            <a:endParaRPr/>
          </a:p>
        </p:txBody>
      </p:sp>
      <p:pic>
        <p:nvPicPr>
          <p:cNvPr id="425" name="Google Shape;42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9600" y="1622550"/>
            <a:ext cx="2218200" cy="352095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1"/>
          <p:cNvSpPr txBox="1"/>
          <p:nvPr>
            <p:ph idx="1" type="body"/>
          </p:nvPr>
        </p:nvSpPr>
        <p:spPr>
          <a:xfrm>
            <a:off x="686700" y="1000075"/>
            <a:ext cx="5695200" cy="39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Project planning</a:t>
            </a:r>
            <a:endParaRPr sz="12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Char char="○"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Planning ahead and using Gantt charts gave us a good roadmap for each project and made clear which goals needed to be met in a certain timeframe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Adaptation</a:t>
            </a:r>
            <a:endParaRPr sz="12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Char char="○"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We learned to adapt by working around and developing solutions for </a:t>
            </a: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unfortunate circumstances</a:t>
            </a: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, such as having to complete the sprints off-campus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Char char="○"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We adapted by making our own course layouts and staying in contact with Professor Eckert to ensure the project is still being done properly at home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Patience/trial and error</a:t>
            </a:r>
            <a:endParaRPr sz="12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Char char="○"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We learned to be patient with team members and understand the collaboration process; it takes lots of patience and effort to complete each task successfully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Char char="○"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We learned to test code thoroughly and fix inaccuracies that appear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Communication/teamwork</a:t>
            </a:r>
            <a:endParaRPr sz="12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Char char="○"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We learned to communicate effectively and clearly to team members in order to complete our tasks on-time and fulfill our responsibilities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Char char="○"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Looking to team members for advice and different perspectives on how to tackle an issue helped solve problems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Software engineering is not easy</a:t>
            </a:r>
            <a:endParaRPr sz="13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Char char="○"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Software engineering involves lots of critical thinking, tweaking, and collaboration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1" name="Google Shape;431;p41"/>
          <p:cNvSpPr txBox="1"/>
          <p:nvPr>
            <p:ph type="title"/>
          </p:nvPr>
        </p:nvSpPr>
        <p:spPr>
          <a:xfrm>
            <a:off x="686700" y="378225"/>
            <a:ext cx="79131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Learned About Software Engineering</a:t>
            </a:r>
            <a:endParaRPr/>
          </a:p>
        </p:txBody>
      </p:sp>
      <p:pic>
        <p:nvPicPr>
          <p:cNvPr id="432" name="Google Shape;43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3800" y="2413448"/>
            <a:ext cx="3820200" cy="275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"/>
          <p:cNvSpPr txBox="1"/>
          <p:nvPr>
            <p:ph idx="1" type="body"/>
          </p:nvPr>
        </p:nvSpPr>
        <p:spPr>
          <a:xfrm>
            <a:off x="686700" y="1000075"/>
            <a:ext cx="5178600" cy="3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 </a:t>
            </a:r>
            <a:r>
              <a:rPr lang="en" sz="13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retrospect, we should have done a couple of things differently.</a:t>
            </a:r>
            <a:endParaRPr sz="13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Sharing the robot more often</a:t>
            </a:r>
            <a:endParaRPr sz="13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Sharing the robot more often between team members would have given everyone the opportunity to work with the robot hands-on and gain crucial experience with the Sphero software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 order to have a better understanding of the code that controls the Sphero robot, it is very important to have access to the physical robot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Better time management</a:t>
            </a:r>
            <a:endParaRPr sz="13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We could have completed each sprint more efficiently if we spread out the workload more rather than condensing it all into a few days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Try out more of the features in the Sphero software</a:t>
            </a:r>
            <a:endParaRPr sz="13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The Sphero Edu software provides many powerful tools and commands to program a robot. We definitely could have taken more advantage of the tools and commands provided to us by Sphero</a:t>
            </a:r>
            <a:endParaRPr sz="13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8" name="Google Shape;438;p42"/>
          <p:cNvSpPr txBox="1"/>
          <p:nvPr>
            <p:ph type="title"/>
          </p:nvPr>
        </p:nvSpPr>
        <p:spPr>
          <a:xfrm>
            <a:off x="686700" y="378225"/>
            <a:ext cx="79131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Back</a:t>
            </a:r>
            <a:endParaRPr/>
          </a:p>
        </p:txBody>
      </p:sp>
      <p:pic>
        <p:nvPicPr>
          <p:cNvPr id="439" name="Google Shape;43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5400" y="1453125"/>
            <a:ext cx="3140275" cy="2359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3"/>
          <p:cNvSpPr txBox="1"/>
          <p:nvPr>
            <p:ph type="title"/>
          </p:nvPr>
        </p:nvSpPr>
        <p:spPr>
          <a:xfrm>
            <a:off x="968350" y="1198125"/>
            <a:ext cx="2808000" cy="12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Joseph Furmanowski</a:t>
            </a:r>
            <a:br>
              <a:rPr lang="en"/>
            </a:br>
            <a:r>
              <a:rPr lang="en" sz="1100"/>
              <a:t>PROJECT MANAGER</a:t>
            </a:r>
            <a:br>
              <a:rPr lang="en" sz="1100"/>
            </a:br>
            <a:r>
              <a:rPr lang="en" sz="1100"/>
              <a:t>PROGRAMMER</a:t>
            </a:r>
            <a:endParaRPr sz="1100"/>
          </a:p>
        </p:txBody>
      </p:sp>
      <p:sp>
        <p:nvSpPr>
          <p:cNvPr id="445" name="Google Shape;445;p43"/>
          <p:cNvSpPr txBox="1"/>
          <p:nvPr>
            <p:ph idx="4294967295" type="body"/>
          </p:nvPr>
        </p:nvSpPr>
        <p:spPr>
          <a:xfrm>
            <a:off x="968350" y="2414025"/>
            <a:ext cx="2808000" cy="22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Responsibilities Overview</a:t>
            </a:r>
            <a:endParaRPr b="1" sz="1000"/>
          </a:p>
          <a:p>
            <a:pPr indent="-292100" lvl="0" marL="457200" rtl="0" algn="l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Oversee projects and maintain quality control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Develop plans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Build requirements tables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Develop flow charts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Write code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Execute, test, and revise code and algorithms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Log sensor data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Write System Design Document (SDD)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Collaborate via GitHub</a:t>
            </a:r>
            <a:endParaRPr sz="1000"/>
          </a:p>
        </p:txBody>
      </p:sp>
      <p:sp>
        <p:nvSpPr>
          <p:cNvPr id="446" name="Google Shape;446;p43"/>
          <p:cNvSpPr txBox="1"/>
          <p:nvPr>
            <p:ph type="title"/>
          </p:nvPr>
        </p:nvSpPr>
        <p:spPr>
          <a:xfrm>
            <a:off x="5333950" y="1198125"/>
            <a:ext cx="2808000" cy="12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Justyce</a:t>
            </a:r>
            <a:br>
              <a:rPr lang="en"/>
            </a:br>
            <a:r>
              <a:rPr lang="en"/>
              <a:t>Graham</a:t>
            </a:r>
            <a:br>
              <a:rPr lang="en"/>
            </a:br>
            <a:r>
              <a:rPr lang="en" sz="1100"/>
              <a:t>PROGRAMMER</a:t>
            </a:r>
            <a:endParaRPr sz="1100"/>
          </a:p>
        </p:txBody>
      </p:sp>
      <p:sp>
        <p:nvSpPr>
          <p:cNvPr id="447" name="Google Shape;447;p43"/>
          <p:cNvSpPr txBox="1"/>
          <p:nvPr>
            <p:ph idx="4294967295" type="body"/>
          </p:nvPr>
        </p:nvSpPr>
        <p:spPr>
          <a:xfrm>
            <a:off x="5333950" y="2414025"/>
            <a:ext cx="2808000" cy="22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Responsibilities Overview</a:t>
            </a:r>
            <a:endParaRPr b="1" sz="1000"/>
          </a:p>
          <a:p>
            <a:pPr indent="-292100" lvl="0" marL="457200" rtl="0" algn="l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Develop plans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Finalize the Gantt charts and verify that they suit the project plan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Write Sections 1 and 2 of the System Design Document (SDD)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Write code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Collaborate via GitHub</a:t>
            </a:r>
            <a:endParaRPr sz="1000"/>
          </a:p>
        </p:txBody>
      </p:sp>
      <p:pic>
        <p:nvPicPr>
          <p:cNvPr id="448" name="Google Shape;44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3975" y="1148475"/>
            <a:ext cx="1496875" cy="99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49" name="Google Shape;44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275" y="1198125"/>
            <a:ext cx="997900" cy="99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50" name="Google Shape;450;p43"/>
          <p:cNvSpPr txBox="1"/>
          <p:nvPr>
            <p:ph type="title"/>
          </p:nvPr>
        </p:nvSpPr>
        <p:spPr>
          <a:xfrm>
            <a:off x="686700" y="378225"/>
            <a:ext cx="65325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 Roles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4"/>
          <p:cNvSpPr txBox="1"/>
          <p:nvPr>
            <p:ph type="ctrTitle"/>
          </p:nvPr>
        </p:nvSpPr>
        <p:spPr>
          <a:xfrm>
            <a:off x="311700" y="1779300"/>
            <a:ext cx="8520600" cy="97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3</a:t>
            </a:r>
            <a:endParaRPr/>
          </a:p>
        </p:txBody>
      </p:sp>
      <p:sp>
        <p:nvSpPr>
          <p:cNvPr id="456" name="Google Shape;456;p44"/>
          <p:cNvSpPr txBox="1"/>
          <p:nvPr>
            <p:ph idx="1" type="subTitle"/>
          </p:nvPr>
        </p:nvSpPr>
        <p:spPr>
          <a:xfrm>
            <a:off x="2743050" y="2888250"/>
            <a:ext cx="3657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Agility Performance</a:t>
            </a:r>
            <a:br>
              <a:rPr lang="en"/>
            </a:br>
            <a:r>
              <a:rPr b="1" lang="en" sz="1400"/>
              <a:t>Block Code &amp; Video</a:t>
            </a:r>
            <a:endParaRPr b="1" sz="1400"/>
          </a:p>
        </p:txBody>
      </p:sp>
      <p:pic>
        <p:nvPicPr>
          <p:cNvPr id="457" name="Google Shape;45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650" y="1318925"/>
            <a:ext cx="1858400" cy="2505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58" name="Google Shape;45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7450" y="1056000"/>
            <a:ext cx="2624850" cy="2624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5"/>
          <p:cNvSpPr txBox="1"/>
          <p:nvPr>
            <p:ph type="title"/>
          </p:nvPr>
        </p:nvSpPr>
        <p:spPr>
          <a:xfrm>
            <a:off x="686700" y="378225"/>
            <a:ext cx="79131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3 — Agility Performance</a:t>
            </a:r>
            <a:endParaRPr/>
          </a:p>
        </p:txBody>
      </p:sp>
      <p:pic>
        <p:nvPicPr>
          <p:cNvPr id="464" name="Google Shape;464;p45"/>
          <p:cNvPicPr preferRelativeResize="0"/>
          <p:nvPr/>
        </p:nvPicPr>
        <p:blipFill rotWithShape="1">
          <a:blip r:embed="rId3">
            <a:alphaModFix/>
          </a:blip>
          <a:srcRect b="1559" l="0" r="0" t="974"/>
          <a:stretch/>
        </p:blipFill>
        <p:spPr>
          <a:xfrm>
            <a:off x="686701" y="1245524"/>
            <a:ext cx="1820908" cy="3717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65" name="Google Shape;465;p45"/>
          <p:cNvSpPr txBox="1"/>
          <p:nvPr/>
        </p:nvSpPr>
        <p:spPr>
          <a:xfrm>
            <a:off x="686700" y="893325"/>
            <a:ext cx="17244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Block Code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45"/>
          <p:cNvSpPr txBox="1"/>
          <p:nvPr/>
        </p:nvSpPr>
        <p:spPr>
          <a:xfrm>
            <a:off x="3077850" y="893325"/>
            <a:ext cx="4572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Video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Video can also be found on our GitHub repository at </a:t>
            </a:r>
            <a:r>
              <a:rPr b="1" lang="en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https://github.com/joefurmanowski/Presentation/blob/main/Agility.mov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7" name="Google Shape;467;p45" title="Agility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7850" y="1534000"/>
            <a:ext cx="4572000" cy="342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ch Company Branding Guideline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3F3F3"/>
      </a:accent1>
      <a:accent2>
        <a:srgbClr val="06BAD6"/>
      </a:accent2>
      <a:accent3>
        <a:srgbClr val="78909C"/>
      </a:accent3>
      <a:accent4>
        <a:srgbClr val="00C3B1"/>
      </a:accent4>
      <a:accent5>
        <a:srgbClr val="0097A7"/>
      </a:accent5>
      <a:accent6>
        <a:srgbClr val="EFEFEF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